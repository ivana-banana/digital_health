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C557D5-73F1-4716-9F31-EE3953ADE2AC}" type="datetimeFigureOut">
              <a:rPr lang="ru-RU" smtClean="0"/>
              <a:t>04.07.2026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72BE17-68C8-43FD-8F6A-3EBE26307C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117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72BE17-68C8-43FD-8F6A-3EBE26307CCD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3753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35158" y="1906840"/>
            <a:ext cx="10484857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endParaRPr sz="1400" b="1" dirty="0">
              <a:solidFill>
                <a:srgbClr val="FFFFFF"/>
              </a:solidFill>
              <a:latin typeface="Segoe UI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D1F9B5D-33F5-439E-BB28-371329F96C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54738" y="5501499"/>
            <a:ext cx="743054" cy="590632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032A9F8-206B-41F2-B9C8-B2ACC3B72DBA}"/>
              </a:ext>
            </a:extLst>
          </p:cNvPr>
          <p:cNvSpPr txBox="1"/>
          <p:nvPr/>
        </p:nvSpPr>
        <p:spPr>
          <a:xfrm>
            <a:off x="2193032" y="2534618"/>
            <a:ext cx="780593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AI-</a:t>
            </a:r>
            <a:r>
              <a:rPr lang="ru-RU" sz="4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ассистент для доказательной онкологии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B1043E-6205-4272-812E-5ECCE9483F2A}"/>
              </a:ext>
            </a:extLst>
          </p:cNvPr>
          <p:cNvSpPr txBox="1"/>
          <p:nvPr/>
        </p:nvSpPr>
        <p:spPr>
          <a:xfrm>
            <a:off x="2032936" y="3997053"/>
            <a:ext cx="81261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1" i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Хакатон</a:t>
            </a:r>
            <a:r>
              <a:rPr lang="ru-RU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«Цифровое здоровье» · НМИЦ онкологии им. Н. Н. Петрова ·  ITMO</a:t>
            </a:r>
            <a:br>
              <a:rPr lang="ru-RU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ru-RU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Команда «ИИ в массы»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1508760"/>
            <a:ext cx="7315017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dirty="0" err="1">
                <a:solidFill>
                  <a:srgbClr val="9307FE"/>
                </a:solidFill>
                <a:latin typeface="Segoe UI"/>
              </a:rPr>
              <a:t>Проблема</a:t>
            </a:r>
            <a:endParaRPr sz="3000" b="1" dirty="0">
              <a:solidFill>
                <a:srgbClr val="9307FE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53418" y="2331720"/>
            <a:ext cx="10241023" cy="3429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400"/>
              </a:spcAft>
            </a:pPr>
            <a:r>
              <a:rPr sz="1900" b="1" dirty="0" err="1">
                <a:solidFill>
                  <a:srgbClr val="222222"/>
                </a:solidFill>
                <a:latin typeface="Segoe UI"/>
              </a:rPr>
              <a:t>Онкология</a:t>
            </a:r>
            <a:r>
              <a:rPr sz="1900" b="1" dirty="0">
                <a:solidFill>
                  <a:srgbClr val="222222"/>
                </a:solidFill>
                <a:latin typeface="Segoe UI"/>
              </a:rPr>
              <a:t> </a:t>
            </a:r>
            <a:r>
              <a:rPr sz="1900" b="1" dirty="0" err="1">
                <a:solidFill>
                  <a:srgbClr val="222222"/>
                </a:solidFill>
                <a:latin typeface="Segoe UI"/>
              </a:rPr>
              <a:t>обновляется</a:t>
            </a:r>
            <a:r>
              <a:rPr sz="1900" b="1" dirty="0">
                <a:solidFill>
                  <a:srgbClr val="222222"/>
                </a:solidFill>
                <a:latin typeface="Segoe UI"/>
              </a:rPr>
              <a:t> </a:t>
            </a:r>
            <a:r>
              <a:rPr sz="1900" b="1" dirty="0" err="1">
                <a:solidFill>
                  <a:srgbClr val="222222"/>
                </a:solidFill>
                <a:latin typeface="Segoe UI"/>
              </a:rPr>
              <a:t>ежедневно</a:t>
            </a:r>
            <a:r>
              <a:rPr sz="1900" b="1" dirty="0">
                <a:solidFill>
                  <a:srgbClr val="222222"/>
                </a:solidFill>
                <a:latin typeface="Segoe UI"/>
              </a:rPr>
              <a:t> — </a:t>
            </a:r>
            <a:r>
              <a:rPr sz="1900" b="1" dirty="0" err="1">
                <a:solidFill>
                  <a:srgbClr val="222222"/>
                </a:solidFill>
                <a:latin typeface="Segoe UI"/>
              </a:rPr>
              <a:t>врач</a:t>
            </a:r>
            <a:r>
              <a:rPr sz="1900" b="1" dirty="0">
                <a:solidFill>
                  <a:srgbClr val="222222"/>
                </a:solidFill>
                <a:latin typeface="Segoe UI"/>
              </a:rPr>
              <a:t> </a:t>
            </a:r>
            <a:r>
              <a:rPr sz="1900" b="1" dirty="0" err="1">
                <a:solidFill>
                  <a:srgbClr val="222222"/>
                </a:solidFill>
                <a:latin typeface="Segoe UI"/>
              </a:rPr>
              <a:t>физически</a:t>
            </a:r>
            <a:r>
              <a:rPr sz="1900" b="1" dirty="0">
                <a:solidFill>
                  <a:srgbClr val="222222"/>
                </a:solidFill>
                <a:latin typeface="Segoe UI"/>
              </a:rPr>
              <a:t> </a:t>
            </a:r>
            <a:r>
              <a:rPr sz="1900" b="1" dirty="0" err="1">
                <a:solidFill>
                  <a:srgbClr val="222222"/>
                </a:solidFill>
                <a:latin typeface="Segoe UI"/>
              </a:rPr>
              <a:t>не</a:t>
            </a:r>
            <a:r>
              <a:rPr sz="1900" b="1" dirty="0">
                <a:solidFill>
                  <a:srgbClr val="222222"/>
                </a:solidFill>
                <a:latin typeface="Segoe UI"/>
              </a:rPr>
              <a:t> </a:t>
            </a:r>
            <a:r>
              <a:rPr sz="1900" b="1" dirty="0" err="1">
                <a:solidFill>
                  <a:srgbClr val="222222"/>
                </a:solidFill>
                <a:latin typeface="Segoe UI"/>
              </a:rPr>
              <a:t>успевает</a:t>
            </a:r>
            <a:r>
              <a:rPr sz="1900" b="1" dirty="0">
                <a:solidFill>
                  <a:srgbClr val="222222"/>
                </a:solidFill>
                <a:latin typeface="Segoe UI"/>
              </a:rPr>
              <a:t> </a:t>
            </a:r>
            <a:r>
              <a:rPr sz="1900" b="1" dirty="0" err="1">
                <a:solidFill>
                  <a:srgbClr val="222222"/>
                </a:solidFill>
                <a:latin typeface="Segoe UI"/>
              </a:rPr>
              <a:t>найти</a:t>
            </a:r>
            <a:r>
              <a:rPr sz="1900" b="1" dirty="0">
                <a:solidFill>
                  <a:srgbClr val="222222"/>
                </a:solidFill>
                <a:latin typeface="Segoe UI"/>
              </a:rPr>
              <a:t> и </a:t>
            </a:r>
            <a:r>
              <a:rPr sz="1900" b="1" dirty="0" err="1">
                <a:solidFill>
                  <a:srgbClr val="222222"/>
                </a:solidFill>
                <a:latin typeface="Segoe UI"/>
              </a:rPr>
              <a:t>критически</a:t>
            </a:r>
            <a:r>
              <a:rPr sz="1900" b="1" dirty="0">
                <a:solidFill>
                  <a:srgbClr val="222222"/>
                </a:solidFill>
                <a:latin typeface="Segoe UI"/>
              </a:rPr>
              <a:t> </a:t>
            </a:r>
            <a:r>
              <a:rPr sz="1900" b="1" dirty="0" err="1">
                <a:solidFill>
                  <a:srgbClr val="222222"/>
                </a:solidFill>
                <a:latin typeface="Segoe UI"/>
              </a:rPr>
              <a:t>оценить</a:t>
            </a:r>
            <a:r>
              <a:rPr sz="1900" b="1" dirty="0">
                <a:solidFill>
                  <a:srgbClr val="222222"/>
                </a:solidFill>
                <a:latin typeface="Segoe UI"/>
              </a:rPr>
              <a:t> </a:t>
            </a:r>
            <a:r>
              <a:rPr sz="1900" b="1" dirty="0" err="1">
                <a:solidFill>
                  <a:srgbClr val="222222"/>
                </a:solidFill>
                <a:latin typeface="Segoe UI"/>
              </a:rPr>
              <a:t>публикации</a:t>
            </a:r>
            <a:r>
              <a:rPr sz="1900" b="1" dirty="0">
                <a:solidFill>
                  <a:srgbClr val="222222"/>
                </a:solidFill>
                <a:latin typeface="Segoe UI"/>
              </a:rPr>
              <a:t>.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700" b="0" dirty="0">
                <a:solidFill>
                  <a:srgbClr val="222222"/>
                </a:solidFill>
                <a:latin typeface="Segoe UI"/>
              </a:rPr>
              <a:t>•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информационная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перегрузка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; в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одной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выдаче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—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источники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разного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качества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;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1700" b="0" dirty="0">
                <a:solidFill>
                  <a:srgbClr val="222222"/>
                </a:solidFill>
                <a:latin typeface="Segoe UI"/>
              </a:rPr>
              <a:t>•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легко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ошибиться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в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дизайне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исследования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и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уровне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доказательности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;</a:t>
            </a:r>
          </a:p>
          <a:p>
            <a:pPr algn="l">
              <a:spcBef>
                <a:spcPts val="0"/>
              </a:spcBef>
              <a:spcAft>
                <a:spcPts val="2400"/>
              </a:spcAft>
            </a:pPr>
            <a:r>
              <a:rPr sz="1700" b="0" dirty="0">
                <a:solidFill>
                  <a:srgbClr val="222222"/>
                </a:solidFill>
                <a:latin typeface="Segoe UI"/>
              </a:rPr>
              <a:t>•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обычный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LLM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опасен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: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выдумывает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DOI и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результаты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смешивает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уровни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доказательности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222222"/>
                </a:solidFill>
                <a:latin typeface="Segoe UI"/>
              </a:rPr>
              <a:t>самоуверен</a:t>
            </a:r>
            <a:r>
              <a:rPr sz="1700" b="0" dirty="0">
                <a:solidFill>
                  <a:srgbClr val="222222"/>
                </a:solidFill>
                <a:latin typeface="Segoe UI"/>
              </a:rPr>
              <a:t>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dirty="0" err="1">
                <a:solidFill>
                  <a:srgbClr val="9307FE"/>
                </a:solidFill>
                <a:latin typeface="Segoe UI"/>
              </a:rPr>
              <a:t>Нужен</a:t>
            </a:r>
            <a:r>
              <a:rPr sz="18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9307FE"/>
                </a:solidFill>
                <a:latin typeface="Segoe UI"/>
              </a:rPr>
              <a:t>ассистент</a:t>
            </a:r>
            <a:r>
              <a:rPr sz="1800" b="1" dirty="0">
                <a:solidFill>
                  <a:srgbClr val="9307FE"/>
                </a:solidFill>
                <a:latin typeface="Segoe UI"/>
              </a:rPr>
              <a:t>, </a:t>
            </a:r>
            <a:r>
              <a:rPr sz="1800" b="1" dirty="0" err="1">
                <a:solidFill>
                  <a:srgbClr val="9307FE"/>
                </a:solidFill>
                <a:latin typeface="Segoe UI"/>
              </a:rPr>
              <a:t>проходящий</a:t>
            </a:r>
            <a:r>
              <a:rPr sz="18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9307FE"/>
                </a:solidFill>
                <a:latin typeface="Segoe UI"/>
              </a:rPr>
              <a:t>путь</a:t>
            </a:r>
            <a:r>
              <a:rPr sz="1800" b="1" dirty="0">
                <a:solidFill>
                  <a:srgbClr val="9307FE"/>
                </a:solidFill>
                <a:latin typeface="Segoe UI"/>
              </a:rPr>
              <a:t> «</a:t>
            </a:r>
            <a:r>
              <a:rPr sz="1800" b="1" dirty="0" err="1">
                <a:solidFill>
                  <a:srgbClr val="9307FE"/>
                </a:solidFill>
                <a:latin typeface="Segoe UI"/>
              </a:rPr>
              <a:t>вопрос</a:t>
            </a:r>
            <a:r>
              <a:rPr sz="1800" b="1" dirty="0">
                <a:solidFill>
                  <a:srgbClr val="9307FE"/>
                </a:solidFill>
                <a:latin typeface="Segoe UI"/>
              </a:rPr>
              <a:t> → </a:t>
            </a:r>
            <a:r>
              <a:rPr sz="1800" b="1" dirty="0" err="1">
                <a:solidFill>
                  <a:srgbClr val="9307FE"/>
                </a:solidFill>
                <a:latin typeface="Segoe UI"/>
              </a:rPr>
              <a:t>вывод</a:t>
            </a:r>
            <a:r>
              <a:rPr sz="1800" b="1" dirty="0">
                <a:solidFill>
                  <a:srgbClr val="9307FE"/>
                </a:solidFill>
                <a:latin typeface="Segoe UI"/>
              </a:rPr>
              <a:t>» — и </a:t>
            </a:r>
            <a:r>
              <a:rPr sz="1800" b="1" dirty="0" err="1">
                <a:solidFill>
                  <a:srgbClr val="9307FE"/>
                </a:solidFill>
                <a:latin typeface="Segoe UI"/>
              </a:rPr>
              <a:t>не</a:t>
            </a:r>
            <a:r>
              <a:rPr sz="18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800" b="1" dirty="0" err="1">
                <a:solidFill>
                  <a:srgbClr val="9307FE"/>
                </a:solidFill>
                <a:latin typeface="Segoe UI"/>
              </a:rPr>
              <a:t>выдумывающий</a:t>
            </a:r>
            <a:r>
              <a:rPr sz="1800" b="1" dirty="0">
                <a:solidFill>
                  <a:srgbClr val="9307FE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7667" y="274320"/>
            <a:ext cx="7558851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22222"/>
                </a:solidFill>
                <a:latin typeface="Segoe UI"/>
              </a:rPr>
              <a:t>Решение — конвейер, повторяющий логику врача-исследователя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559" y="1968938"/>
            <a:ext cx="4389010" cy="11370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100" b="1" dirty="0">
                <a:solidFill>
                  <a:srgbClr val="FFFFFF"/>
                </a:solidFill>
                <a:latin typeface="Segoe UI"/>
              </a:rPr>
              <a:t>1</a:t>
            </a:r>
            <a:r>
              <a:rPr lang="ru-RU" sz="2100" b="1" dirty="0">
                <a:solidFill>
                  <a:srgbClr val="FFFFFF"/>
                </a:solidFill>
                <a:latin typeface="Segoe UI"/>
              </a:rPr>
              <a:t>. </a:t>
            </a:r>
            <a:r>
              <a:rPr sz="2100" b="1" dirty="0" err="1">
                <a:solidFill>
                  <a:srgbClr val="FFFFFF"/>
                </a:solidFill>
                <a:latin typeface="Segoe UI"/>
              </a:rPr>
              <a:t>Поиск</a:t>
            </a:r>
            <a:endParaRPr sz="2100" b="1" dirty="0">
              <a:solidFill>
                <a:srgbClr val="FFFFFF"/>
              </a:solidFill>
              <a:latin typeface="Segoe U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dirty="0" err="1">
                <a:solidFill>
                  <a:srgbClr val="FFFFFF"/>
                </a:solidFill>
                <a:latin typeface="Segoe UI"/>
              </a:rPr>
              <a:t>Гипотеза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(RU) → PICO → PubMed →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дедупликация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РКИ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по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NCT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4620920"/>
            <a:ext cx="4389010" cy="113704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100" b="1" dirty="0">
                <a:solidFill>
                  <a:srgbClr val="FFFFFF"/>
                </a:solidFill>
                <a:latin typeface="Segoe UI"/>
              </a:rPr>
              <a:t>2</a:t>
            </a:r>
            <a:r>
              <a:rPr lang="ru-RU" sz="2100" b="1" dirty="0">
                <a:solidFill>
                  <a:srgbClr val="FFFFFF"/>
                </a:solidFill>
                <a:latin typeface="Segoe UI"/>
              </a:rPr>
              <a:t>. </a:t>
            </a:r>
            <a:r>
              <a:rPr sz="2100" b="1" dirty="0" err="1">
                <a:solidFill>
                  <a:srgbClr val="FFFFFF"/>
                </a:solidFill>
                <a:latin typeface="Segoe UI"/>
              </a:rPr>
              <a:t>Анализ</a:t>
            </a:r>
            <a:endParaRPr sz="2100" b="1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dirty="0" err="1">
                <a:solidFill>
                  <a:srgbClr val="FFFFFF"/>
                </a:solidFill>
                <a:latin typeface="Segoe UI"/>
              </a:rPr>
              <a:t>Извлечение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эффектов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(LLM) →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мета-анализ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детерминированным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кодом</a:t>
            </a:r>
            <a:endParaRPr sz="1600" b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05432" y="2687585"/>
            <a:ext cx="4632844" cy="246900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0"/>
              </a:spcAft>
            </a:pPr>
            <a:r>
              <a:rPr sz="2100" b="1" dirty="0">
                <a:solidFill>
                  <a:srgbClr val="FFFFFF"/>
                </a:solidFill>
                <a:latin typeface="Segoe UI"/>
              </a:rPr>
              <a:t>3</a:t>
            </a:r>
            <a:r>
              <a:rPr lang="ru-RU" sz="2100" b="1" dirty="0">
                <a:solidFill>
                  <a:srgbClr val="FFFFFF"/>
                </a:solidFill>
                <a:latin typeface="Segoe UI"/>
              </a:rPr>
              <a:t>. </a:t>
            </a:r>
            <a:r>
              <a:rPr sz="2100" b="1" dirty="0" err="1">
                <a:solidFill>
                  <a:srgbClr val="FFFFFF"/>
                </a:solidFill>
                <a:latin typeface="Segoe UI"/>
              </a:rPr>
              <a:t>Проверяемый</a:t>
            </a:r>
            <a:r>
              <a:rPr sz="21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2100" b="1" dirty="0" err="1">
                <a:solidFill>
                  <a:srgbClr val="FFFFFF"/>
                </a:solidFill>
                <a:latin typeface="Segoe UI"/>
              </a:rPr>
              <a:t>вывод</a:t>
            </a:r>
            <a:endParaRPr sz="2100" b="1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0"/>
              </a:spcAft>
            </a:pPr>
            <a:r>
              <a:rPr sz="1700" b="0" dirty="0" err="1">
                <a:solidFill>
                  <a:srgbClr val="FFFFFF"/>
                </a:solidFill>
                <a:latin typeface="Segoe UI"/>
              </a:rPr>
              <a:t>Отчёт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 с </a:t>
            </a:r>
            <a:r>
              <a:rPr sz="1700" b="0" dirty="0" err="1">
                <a:solidFill>
                  <a:srgbClr val="FFFFFF"/>
                </a:solidFill>
                <a:latin typeface="Segoe UI"/>
              </a:rPr>
              <a:t>уровнем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Segoe UI"/>
              </a:rPr>
              <a:t>доказательности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 GRADE</a:t>
            </a:r>
            <a:r>
              <a:rPr lang="ru-RU" sz="1700" b="0" dirty="0">
                <a:solidFill>
                  <a:srgbClr val="FFFFFF"/>
                </a:solidFill>
                <a:latin typeface="Segoe UI"/>
              </a:rPr>
              <a:t>,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 forest / funnel</a:t>
            </a:r>
            <a:r>
              <a:rPr lang="ru-RU" sz="1700" b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PRISMA</a:t>
            </a:r>
            <a:r>
              <a:rPr lang="ru-RU" sz="1700" b="0" dirty="0">
                <a:solidFill>
                  <a:srgbClr val="FFFFFF"/>
                </a:solidFill>
                <a:latin typeface="Segoe UI"/>
              </a:rPr>
              <a:t>, </a:t>
            </a:r>
            <a:r>
              <a:rPr sz="1700" b="0" dirty="0" err="1">
                <a:solidFill>
                  <a:srgbClr val="FFFFFF"/>
                </a:solidFill>
                <a:latin typeface="Segoe UI"/>
              </a:rPr>
              <a:t>цитата-провенанс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Segoe UI"/>
              </a:rPr>
              <a:t>под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Segoe UI"/>
              </a:rPr>
              <a:t>каждым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Segoe UI"/>
              </a:rPr>
              <a:t>числом</a:t>
            </a:r>
            <a:endParaRPr sz="1700" b="0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0" dirty="0" err="1">
                <a:solidFill>
                  <a:srgbClr val="FFFFFF"/>
                </a:solidFill>
                <a:latin typeface="Segoe UI"/>
              </a:rPr>
              <a:t>Веб-приложение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 (</a:t>
            </a:r>
            <a:r>
              <a:rPr sz="1700" b="0" dirty="0" err="1">
                <a:solidFill>
                  <a:srgbClr val="FFFFFF"/>
                </a:solidFill>
                <a:latin typeface="Segoe UI"/>
              </a:rPr>
              <a:t>чат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Segoe UI"/>
              </a:rPr>
              <a:t>врача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), </a:t>
            </a:r>
            <a:r>
              <a:rPr sz="1700" b="0" dirty="0" err="1">
                <a:solidFill>
                  <a:srgbClr val="FFFFFF"/>
                </a:solidFill>
                <a:latin typeface="Segoe UI"/>
              </a:rPr>
              <a:t>живой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700" b="0" dirty="0" err="1">
                <a:solidFill>
                  <a:srgbClr val="FFFFFF"/>
                </a:solidFill>
                <a:latin typeface="Segoe UI"/>
              </a:rPr>
              <a:t>режим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: </a:t>
            </a:r>
            <a:r>
              <a:rPr sz="1700" b="0" dirty="0" err="1">
                <a:solidFill>
                  <a:srgbClr val="FFFFFF"/>
                </a:solidFill>
                <a:latin typeface="Segoe UI"/>
              </a:rPr>
              <a:t>реальный</a:t>
            </a:r>
            <a:r>
              <a:rPr sz="1700" b="0" dirty="0">
                <a:solidFill>
                  <a:srgbClr val="FFFFFF"/>
                </a:solidFill>
                <a:latin typeface="Segoe UI"/>
              </a:rPr>
              <a:t> PubMed + LLM (Yandex AI Studio)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028700"/>
            <a:ext cx="10972525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01" y="316267"/>
            <a:ext cx="8534186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22222"/>
                </a:solidFill>
                <a:latin typeface="Segoe UI"/>
              </a:rPr>
              <a:t>Пример 1 — полный анализ гипотезы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5334" y="1031252"/>
            <a:ext cx="10241023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lang="ru-RU" sz="1300" b="1" dirty="0">
                <a:solidFill>
                  <a:srgbClr val="222222"/>
                </a:solidFill>
                <a:latin typeface="Segoe UI"/>
              </a:rPr>
              <a:t>Г</a:t>
            </a:r>
            <a:r>
              <a:rPr sz="1300" b="1" dirty="0" err="1">
                <a:solidFill>
                  <a:srgbClr val="222222"/>
                </a:solidFill>
                <a:latin typeface="Segoe UI"/>
              </a:rPr>
              <a:t>ипотеза</a:t>
            </a:r>
            <a:r>
              <a:rPr sz="1300" b="1" dirty="0">
                <a:solidFill>
                  <a:srgbClr val="222222"/>
                </a:solidFill>
                <a:latin typeface="Segoe UI"/>
              </a:rPr>
              <a:t> → PICO → PubMed → </a:t>
            </a:r>
            <a:r>
              <a:rPr sz="1300" b="1" dirty="0" err="1">
                <a:solidFill>
                  <a:srgbClr val="222222"/>
                </a:solidFill>
                <a:latin typeface="Segoe UI"/>
              </a:rPr>
              <a:t>мета-анализ</a:t>
            </a:r>
            <a:r>
              <a:rPr sz="1300" b="1" dirty="0">
                <a:solidFill>
                  <a:srgbClr val="222222"/>
                </a:solidFill>
                <a:latin typeface="Segoe UI"/>
              </a:rPr>
              <a:t> → </a:t>
            </a:r>
            <a:r>
              <a:rPr sz="1300" b="1" dirty="0" err="1">
                <a:solidFill>
                  <a:srgbClr val="222222"/>
                </a:solidFill>
                <a:latin typeface="Segoe UI"/>
              </a:rPr>
              <a:t>проверяемый</a:t>
            </a:r>
            <a:r>
              <a:rPr sz="1300" b="1" dirty="0">
                <a:solidFill>
                  <a:srgbClr val="222222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222222"/>
                </a:solidFill>
                <a:latin typeface="Segoe UI"/>
              </a:rPr>
              <a:t>отчёт</a:t>
            </a:r>
            <a:r>
              <a:rPr sz="1300" b="1" dirty="0">
                <a:solidFill>
                  <a:srgbClr val="222222"/>
                </a:solidFill>
                <a:latin typeface="Segoe UI"/>
              </a:rPr>
              <a:t> с GRADE (0 </a:t>
            </a:r>
            <a:r>
              <a:rPr sz="1300" b="1" dirty="0" err="1">
                <a:solidFill>
                  <a:srgbClr val="222222"/>
                </a:solidFill>
                <a:latin typeface="Segoe UI"/>
              </a:rPr>
              <a:t>галлюцинаций</a:t>
            </a:r>
            <a:r>
              <a:rPr sz="1300" b="1" dirty="0">
                <a:solidFill>
                  <a:srgbClr val="222222"/>
                </a:solidFill>
                <a:latin typeface="Segoe UI"/>
              </a:rPr>
              <a:t>)</a:t>
            </a:r>
          </a:p>
        </p:txBody>
      </p:sp>
      <p:pic>
        <p:nvPicPr>
          <p:cNvPr id="6" name="Picture 5" descr="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86" y="1440179"/>
            <a:ext cx="10409975" cy="51595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028700"/>
            <a:ext cx="10972525" cy="5486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01" y="342900"/>
            <a:ext cx="853418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222222"/>
                </a:solidFill>
                <a:latin typeface="Segoe UI"/>
              </a:rPr>
              <a:t>Пример 2 — честный отказ на разреженных данных</a:t>
            </a:r>
          </a:p>
        </p:txBody>
      </p:sp>
      <p:pic>
        <p:nvPicPr>
          <p:cNvPr id="5" name="Picture 4" descr="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716" y="1525766"/>
            <a:ext cx="10969393" cy="21605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75335" y="4251960"/>
            <a:ext cx="10241023" cy="9367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</a:pPr>
            <a:r>
              <a:rPr sz="1500" b="0" dirty="0" err="1">
                <a:solidFill>
                  <a:srgbClr val="222222"/>
                </a:solidFill>
                <a:latin typeface="Segoe UI"/>
              </a:rPr>
              <a:t>Одно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pivotal-РКИ (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соторасиб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) →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сопоставимого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второго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нет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→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мета-анализ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невозможен</a:t>
            </a:r>
            <a:endParaRPr sz="1500" b="0" dirty="0">
              <a:solidFill>
                <a:srgbClr val="22222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 err="1">
                <a:solidFill>
                  <a:srgbClr val="9307FE"/>
                </a:solidFill>
                <a:latin typeface="Segoe UI"/>
              </a:rPr>
              <a:t>Система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не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выдумывает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вывод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, а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честно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сообщает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«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доказательств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недостаточно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» (GRADE: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очень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низкая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) —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ключ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к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снижению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рисков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LLM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342900"/>
            <a:ext cx="8534186" cy="7543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22222"/>
                </a:solidFill>
                <a:latin typeface="Segoe UI"/>
              </a:rPr>
              <a:t>Живой forest plot — результат реального прогона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508" y="1371600"/>
            <a:ext cx="5120511" cy="2331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pic>
        <p:nvPicPr>
          <p:cNvPr id="5" name="Picture 4" descr="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9362" y="1486726"/>
            <a:ext cx="6095847" cy="21770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03784" y="3927188"/>
            <a:ext cx="10241023" cy="12162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dirty="0" err="1">
                <a:solidFill>
                  <a:srgbClr val="222222"/>
                </a:solidFill>
                <a:latin typeface="Segoe UI"/>
              </a:rPr>
              <a:t>Система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строит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пул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отношения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рисков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(HR) с 95 % ДИ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по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каждому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исследованию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и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ромбом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суммарного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эффекта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—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как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в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настоящем</a:t>
            </a:r>
            <a:r>
              <a:rPr sz="15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222222"/>
                </a:solidFill>
                <a:latin typeface="Segoe UI"/>
              </a:rPr>
              <a:t>мета-анализе</a:t>
            </a:r>
            <a:endParaRPr sz="1500" b="0" dirty="0">
              <a:solidFill>
                <a:srgbClr val="222222"/>
              </a:solidFill>
              <a:latin typeface="Segoe UI"/>
            </a:endParaRPr>
          </a:p>
          <a:p>
            <a:pPr algn="ctr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dirty="0">
                <a:solidFill>
                  <a:srgbClr val="9307FE"/>
                </a:solidFill>
                <a:latin typeface="Segoe UI"/>
              </a:rPr>
              <a:t>А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на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разреженных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данных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(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соторасиб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,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одно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pivotal-РКИ)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честно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отвечает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«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доказательств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недостаточно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» —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не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выдумывает</a:t>
            </a:r>
            <a:r>
              <a:rPr sz="1500" b="1" dirty="0">
                <a:solidFill>
                  <a:srgbClr val="9307FE"/>
                </a:solidFill>
                <a:latin typeface="Segoe UI"/>
              </a:rPr>
              <a:t> </a:t>
            </a:r>
            <a:r>
              <a:rPr sz="1500" b="1" dirty="0" err="1">
                <a:solidFill>
                  <a:srgbClr val="9307FE"/>
                </a:solidFill>
                <a:latin typeface="Segoe UI"/>
              </a:rPr>
              <a:t>вывод</a:t>
            </a:r>
            <a:endParaRPr sz="1500" b="1" dirty="0">
              <a:solidFill>
                <a:srgbClr val="9307FE"/>
              </a:solidFill>
              <a:latin typeface="Segoe UI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FCEAA71-B565-4851-BB39-3EBE56CF9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9038" y="1147288"/>
            <a:ext cx="4572638" cy="381053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587F825-8B46-4045-8107-E0DF9884C6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4129" y="3555662"/>
            <a:ext cx="4601217" cy="2953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3418" y="1508760"/>
            <a:ext cx="9753356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9307FE"/>
                </a:solidFill>
                <a:latin typeface="Segoe UI"/>
              </a:rPr>
              <a:t>Архитектура: детерминизм ≠ генерация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18" y="2510724"/>
            <a:ext cx="10241023" cy="265951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 dirty="0">
                <a:solidFill>
                  <a:srgbClr val="222222"/>
                </a:solidFill>
                <a:latin typeface="Segoe UI"/>
              </a:rPr>
              <a:t>•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Мультиагентный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граф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на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LangGraph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: LLM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только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читает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и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формулирует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;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поиск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статистика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отбор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и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дедуп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—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детерминированный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код</a:t>
            </a:r>
            <a:endParaRPr sz="1600" b="0" dirty="0">
              <a:solidFill>
                <a:srgbClr val="22222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 dirty="0">
                <a:solidFill>
                  <a:srgbClr val="222222"/>
                </a:solidFill>
                <a:latin typeface="Segoe UI"/>
              </a:rPr>
              <a:t>•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Гексагональные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слои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порты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/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адаптеры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):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модель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меняется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одной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строкой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(URI),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ядро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без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сети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,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всё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покрыто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тестами</a:t>
            </a:r>
            <a:endParaRPr sz="1600" b="0" dirty="0">
              <a:solidFill>
                <a:srgbClr val="22222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</a:pPr>
            <a:r>
              <a:rPr sz="1600" b="0" dirty="0">
                <a:solidFill>
                  <a:srgbClr val="222222"/>
                </a:solidFill>
                <a:latin typeface="Segoe UI"/>
              </a:rPr>
              <a:t>•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Никаких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выдуманных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чисел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: «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не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сообщено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»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вместо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угадывания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·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цитата-провенанс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под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каждым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числом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·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верификация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каждого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DOI/PMID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dirty="0">
                <a:solidFill>
                  <a:srgbClr val="222222"/>
                </a:solidFill>
                <a:latin typeface="Segoe UI"/>
              </a:rPr>
              <a:t>•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Градуированная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доказательность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(GRADE), а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не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бинарный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вердикт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 «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да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/</a:t>
            </a:r>
            <a:r>
              <a:rPr sz="1600" b="0" dirty="0" err="1">
                <a:solidFill>
                  <a:srgbClr val="222222"/>
                </a:solidFill>
                <a:latin typeface="Segoe UI"/>
              </a:rPr>
              <a:t>нет</a:t>
            </a:r>
            <a:r>
              <a:rPr sz="1600" b="0" dirty="0">
                <a:solidFill>
                  <a:srgbClr val="222222"/>
                </a:solidFill>
                <a:latin typeface="Segoe UI"/>
              </a:rPr>
              <a:t>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3418" y="5554980"/>
            <a:ext cx="10241023" cy="480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9307FE"/>
                </a:solidFill>
                <a:latin typeface="Segoe UI"/>
              </a:rPr>
              <a:t>≈140 автотестов зелёные · frozen-eval: 0 выдуманных ссылок (жёсткий гейт)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7667" y="274320"/>
            <a:ext cx="7558851" cy="8915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>
                <a:solidFill>
                  <a:srgbClr val="222222"/>
                </a:solidFill>
                <a:latin typeface="Segoe UI"/>
              </a:rPr>
              <a:t>Обучение моделей в Yandex Cloud (требование хакатона)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377" y="2132370"/>
            <a:ext cx="4389010" cy="101591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 dirty="0" err="1">
                <a:solidFill>
                  <a:srgbClr val="FFFFFF"/>
                </a:solidFill>
                <a:latin typeface="Segoe UI"/>
              </a:rPr>
              <a:t>Модель</a:t>
            </a:r>
            <a:r>
              <a:rPr sz="1700" b="1" dirty="0">
                <a:solidFill>
                  <a:srgbClr val="FFFFFF"/>
                </a:solidFill>
                <a:latin typeface="Segoe UI"/>
              </a:rPr>
              <a:t> A</a:t>
            </a:r>
            <a:r>
              <a:rPr lang="ru-RU" sz="1700" b="1" dirty="0">
                <a:solidFill>
                  <a:srgbClr val="FFFFFF"/>
                </a:solidFill>
                <a:latin typeface="Segoe UI"/>
              </a:rPr>
              <a:t>: </a:t>
            </a:r>
            <a:r>
              <a:rPr sz="1700" b="1" dirty="0" err="1">
                <a:solidFill>
                  <a:srgbClr val="FFFFFF"/>
                </a:solidFill>
                <a:latin typeface="Segoe UI"/>
              </a:rPr>
              <a:t>дизайн</a:t>
            </a:r>
            <a:r>
              <a:rPr sz="17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1700" b="1" dirty="0" err="1">
                <a:solidFill>
                  <a:srgbClr val="FFFFFF"/>
                </a:solidFill>
                <a:latin typeface="Segoe UI"/>
              </a:rPr>
              <a:t>исследования</a:t>
            </a:r>
            <a:endParaRPr sz="1700" b="1" dirty="0">
              <a:solidFill>
                <a:srgbClr val="FFFFFF"/>
              </a:solidFill>
              <a:latin typeface="Segoe U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FFFFFF"/>
                </a:solidFill>
                <a:latin typeface="Segoe UI"/>
              </a:rPr>
              <a:t>e5 + LR, PubMed 980 </a:t>
            </a:r>
            <a:r>
              <a:rPr sz="1500" b="0" dirty="0" err="1">
                <a:solidFill>
                  <a:srgbClr val="FFFFFF"/>
                </a:solidFill>
                <a:latin typeface="Segoe UI"/>
              </a:rPr>
              <a:t>строк</a:t>
            </a:r>
            <a:r>
              <a:rPr sz="1500" b="0" dirty="0">
                <a:solidFill>
                  <a:srgbClr val="FFFFFF"/>
                </a:solidFill>
                <a:latin typeface="Segoe UI"/>
              </a:rPr>
              <a:t>, 4 </a:t>
            </a:r>
            <a:r>
              <a:rPr sz="1500" b="0" dirty="0" err="1">
                <a:solidFill>
                  <a:srgbClr val="FFFFFF"/>
                </a:solidFill>
                <a:latin typeface="Segoe UI"/>
              </a:rPr>
              <a:t>класса</a:t>
            </a:r>
            <a:r>
              <a:rPr sz="1500" b="0" dirty="0">
                <a:solidFill>
                  <a:srgbClr val="FFFFFF"/>
                </a:solidFill>
                <a:latin typeface="Segoe UI"/>
              </a:rPr>
              <a:t>. Hold-out macro-F1 0.79. </a:t>
            </a:r>
            <a:r>
              <a:rPr sz="1500" b="0" dirty="0" err="1">
                <a:solidFill>
                  <a:srgbClr val="FFFFFF"/>
                </a:solidFill>
                <a:latin typeface="Segoe UI"/>
              </a:rPr>
              <a:t>Включена</a:t>
            </a:r>
            <a:r>
              <a:rPr sz="1500" b="0" dirty="0">
                <a:solidFill>
                  <a:srgbClr val="FFFFFF"/>
                </a:solidFill>
                <a:latin typeface="Segoe UI"/>
              </a:rPr>
              <a:t> в 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377" y="4627432"/>
            <a:ext cx="4389010" cy="128137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700" b="1" dirty="0" err="1">
                <a:solidFill>
                  <a:srgbClr val="FFFFFF"/>
                </a:solidFill>
                <a:latin typeface="Segoe UI"/>
              </a:rPr>
              <a:t>Модель</a:t>
            </a:r>
            <a:r>
              <a:rPr sz="1700" b="1" dirty="0">
                <a:solidFill>
                  <a:srgbClr val="FFFFFF"/>
                </a:solidFill>
                <a:latin typeface="Segoe UI"/>
              </a:rPr>
              <a:t> C</a:t>
            </a:r>
            <a:r>
              <a:rPr lang="ru-RU" sz="1700" b="1" dirty="0">
                <a:solidFill>
                  <a:srgbClr val="FFFFFF"/>
                </a:solidFill>
                <a:latin typeface="Segoe UI"/>
              </a:rPr>
              <a:t>: </a:t>
            </a:r>
            <a:r>
              <a:rPr sz="1700" b="1" dirty="0" err="1">
                <a:solidFill>
                  <a:srgbClr val="FFFFFF"/>
                </a:solidFill>
                <a:latin typeface="Segoe UI"/>
              </a:rPr>
              <a:t>скрининг</a:t>
            </a:r>
            <a:r>
              <a:rPr sz="1700" b="1" dirty="0">
                <a:solidFill>
                  <a:srgbClr val="FFFFFF"/>
                </a:solidFill>
                <a:latin typeface="Segoe UI"/>
              </a:rPr>
              <a:t> include/exclude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dirty="0">
                <a:solidFill>
                  <a:srgbClr val="FFFFFF"/>
                </a:solidFill>
                <a:latin typeface="Segoe UI"/>
              </a:rPr>
              <a:t>CLEF-TAR 1655 (</a:t>
            </a:r>
            <a:r>
              <a:rPr sz="1500" b="0" dirty="0" err="1">
                <a:solidFill>
                  <a:srgbClr val="FFFFFF"/>
                </a:solidFill>
                <a:latin typeface="Segoe UI"/>
              </a:rPr>
              <a:t>разметка</a:t>
            </a:r>
            <a:r>
              <a:rPr sz="15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Segoe UI"/>
              </a:rPr>
              <a:t>авторов</a:t>
            </a:r>
            <a:r>
              <a:rPr sz="1500" b="0" dirty="0">
                <a:solidFill>
                  <a:srgbClr val="FFFFFF"/>
                </a:solidFill>
                <a:latin typeface="Segoe UI"/>
              </a:rPr>
              <a:t> Cochrane), recall 0.94. </a:t>
            </a:r>
            <a:r>
              <a:rPr sz="1500" b="0" dirty="0" err="1">
                <a:solidFill>
                  <a:srgbClr val="FFFFFF"/>
                </a:solidFill>
                <a:latin typeface="Segoe UI"/>
              </a:rPr>
              <a:t>По</a:t>
            </a:r>
            <a:r>
              <a:rPr sz="15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Segoe UI"/>
              </a:rPr>
              <a:t>умолчанию</a:t>
            </a:r>
            <a:r>
              <a:rPr sz="1500" b="0" dirty="0">
                <a:solidFill>
                  <a:srgbClr val="FFFFFF"/>
                </a:solidFill>
                <a:latin typeface="Segoe UI"/>
              </a:rPr>
              <a:t> off (over-rescue) — </a:t>
            </a:r>
            <a:r>
              <a:rPr sz="1500" b="0" dirty="0" err="1">
                <a:solidFill>
                  <a:srgbClr val="FFFFFF"/>
                </a:solidFill>
                <a:latin typeface="Segoe UI"/>
              </a:rPr>
              <a:t>честный</a:t>
            </a:r>
            <a:r>
              <a:rPr sz="15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Segoe UI"/>
              </a:rPr>
              <a:t>измеренный</a:t>
            </a:r>
            <a:r>
              <a:rPr sz="15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500" b="0" dirty="0" err="1">
                <a:solidFill>
                  <a:srgbClr val="FFFFFF"/>
                </a:solidFill>
                <a:latin typeface="Segoe UI"/>
              </a:rPr>
              <a:t>артефакт</a:t>
            </a:r>
            <a:endParaRPr sz="1500" b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05432" y="2367965"/>
            <a:ext cx="4632844" cy="30821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000" b="1" dirty="0" err="1">
                <a:solidFill>
                  <a:srgbClr val="FFFFFF"/>
                </a:solidFill>
                <a:latin typeface="Segoe UI"/>
              </a:rPr>
              <a:t>Честные</a:t>
            </a:r>
            <a:r>
              <a:rPr sz="2000" b="1" dirty="0">
                <a:solidFill>
                  <a:srgbClr val="FFFFFF"/>
                </a:solidFill>
                <a:latin typeface="Segoe UI"/>
              </a:rPr>
              <a:t> </a:t>
            </a:r>
            <a:r>
              <a:rPr sz="2000" b="1" dirty="0" err="1">
                <a:solidFill>
                  <a:srgbClr val="FFFFFF"/>
                </a:solidFill>
                <a:latin typeface="Segoe UI"/>
              </a:rPr>
              <a:t>метрики</a:t>
            </a:r>
            <a:endParaRPr sz="2000" b="1" dirty="0">
              <a:solidFill>
                <a:srgbClr val="FFFFFF"/>
              </a:solidFill>
              <a:latin typeface="Segoe UI"/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FFFFFF"/>
                </a:solidFill>
                <a:latin typeface="Segoe UI"/>
              </a:rPr>
              <a:t>Обучено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на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реальных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данных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(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не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синтетика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), с hold-out</a:t>
            </a: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FFFFFF"/>
                </a:solidFill>
                <a:latin typeface="Segoe UI"/>
              </a:rPr>
              <a:t>Модели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за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портами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: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нет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чекпойнта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—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пайплайн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деградирует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штатно</a:t>
            </a:r>
            <a:endParaRPr sz="1600" b="0" dirty="0">
              <a:solidFill>
                <a:srgbClr val="FFFFFF"/>
              </a:solidFill>
              <a:latin typeface="Segoe UI"/>
            </a:endParaRPr>
          </a:p>
          <a:p>
            <a:pPr marL="285750" indent="-285750"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sz="1600" b="0" dirty="0" err="1">
                <a:solidFill>
                  <a:srgbClr val="FFFFFF"/>
                </a:solidFill>
                <a:latin typeface="Segoe UI"/>
              </a:rPr>
              <a:t>Модели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через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Yandex AI Studio (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OpenAI-совместимо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): self-host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не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нужен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, GPU —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только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под</a:t>
            </a:r>
            <a:r>
              <a:rPr sz="1600" b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Segoe UI"/>
              </a:rPr>
              <a:t>обучение</a:t>
            </a:r>
            <a:endParaRPr sz="1600" b="0" dirty="0">
              <a:solidFill>
                <a:srgbClr val="FFFFFF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584" y="1645919"/>
            <a:ext cx="5852013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Ограничения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Segoe UI"/>
              </a:rPr>
              <a:t>осознанные инженерные решения в пользу корректности, а не пробелы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017" y="2166655"/>
            <a:ext cx="4145176" cy="329615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0" dirty="0">
                <a:solidFill>
                  <a:srgbClr val="222222"/>
                </a:solidFill>
                <a:latin typeface="Segoe UI"/>
              </a:rPr>
              <a:t>•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Живой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режим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требует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ключей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AI Studio (.env);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офлайн-режим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—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на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замороженном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корпусе</a:t>
            </a:r>
            <a:endParaRPr sz="1400" b="0" dirty="0">
              <a:solidFill>
                <a:srgbClr val="222222"/>
              </a:solidFill>
              <a:latin typeface="Segoe UI"/>
            </a:endParaRP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0" dirty="0">
                <a:solidFill>
                  <a:srgbClr val="222222"/>
                </a:solidFill>
                <a:latin typeface="Segoe UI"/>
              </a:rPr>
              <a:t>•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Извлечение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из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абстрактов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: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если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HR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только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в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полном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тексте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—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доступен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лишь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Open Access;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классические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pivotal-РКИ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закрыты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→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честное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«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не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сообщено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» +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понижение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GRADE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0" dirty="0">
                <a:solidFill>
                  <a:srgbClr val="222222"/>
                </a:solidFill>
                <a:latin typeface="Segoe UI"/>
              </a:rPr>
              <a:t>•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Мета-анализ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: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бинарные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меры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+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пред-сообщённый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HR; KM-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реконструкция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намеренно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вне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scope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dirty="0">
                <a:solidFill>
                  <a:srgbClr val="222222"/>
                </a:solidFill>
                <a:latin typeface="Segoe UI"/>
              </a:rPr>
              <a:t>•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Деплой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в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облако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: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приложение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готово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(Docker +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инструкция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),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онлайн-выкладка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ещё</a:t>
            </a:r>
            <a:r>
              <a:rPr sz="1400" b="0" dirty="0">
                <a:solidFill>
                  <a:srgbClr val="222222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222222"/>
                </a:solidFill>
                <a:latin typeface="Segoe UI"/>
              </a:rPr>
              <a:t>предстоит</a:t>
            </a:r>
            <a:endParaRPr sz="1400" b="0" dirty="0">
              <a:solidFill>
                <a:srgbClr val="222222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4E67D55-101F-4110-A17E-E05D74FA9F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3148" y="5274944"/>
            <a:ext cx="724001" cy="80021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B6B69B-8FC9-4A66-BF73-2BAC50AF2D36}"/>
              </a:ext>
            </a:extLst>
          </p:cNvPr>
          <p:cNvSpPr txBox="1"/>
          <p:nvPr/>
        </p:nvSpPr>
        <p:spPr>
          <a:xfrm>
            <a:off x="7246398" y="627979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«Цифровое здоровье» </a:t>
            </a:r>
            <a:r>
              <a:rPr lang="ru-RU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· </a:t>
            </a:r>
            <a:r>
              <a:rPr lang="ru-RU" dirty="0">
                <a:solidFill>
                  <a:schemeClr val="bg1"/>
                </a:solidFill>
              </a:rPr>
              <a:t>Команда «ИИ в массы»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580</Words>
  <Application>Microsoft Office PowerPoint</Application>
  <PresentationFormat>Широкоэкранный</PresentationFormat>
  <Paragraphs>47</Paragraphs>
  <Slides>10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Segoe UI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Professional</cp:lastModifiedBy>
  <cp:revision>6</cp:revision>
  <dcterms:created xsi:type="dcterms:W3CDTF">2013-01-27T09:14:16Z</dcterms:created>
  <dcterms:modified xsi:type="dcterms:W3CDTF">2026-07-04T18:20:55Z</dcterms:modified>
  <cp:category/>
</cp:coreProperties>
</file>